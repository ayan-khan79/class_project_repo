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5143500" cy="9144000"/>
  <p:embeddedFontLs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93EF34-A33C-41F8-8A84-EE8B6C6199A0}">
  <a:tblStyle styleId="{7393EF34-A33C-41F8-8A84-EE8B6C6199A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64592" y="0"/>
            <a:ext cx="8979408" cy="12801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320040" y="457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20040" y="4114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NumPy &amp; Pandas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20040" y="9601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Python Data Science Series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STUDENT INFORMATION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192024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FULL 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2194560"/>
            <a:ext cx="8046720" cy="47548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Mohammad Ayan</a:t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57200" y="278892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CLASS / SECTION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57200" y="3063240"/>
            <a:ext cx="8046720" cy="47548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B.Tech CSE</a:t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457200" y="36576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ROLL NUMBER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57200" y="3931920"/>
            <a:ext cx="8046720" cy="47548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22131011395</a:t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457200" y="4526280"/>
            <a:ext cx="3840480" cy="4114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594360" y="4544568"/>
            <a:ext cx="3657600" cy="347472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Date: </a:t>
            </a:r>
            <a:r>
              <a:rPr lang="en-US" sz="12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 23/02/2026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4754880" y="4526280"/>
            <a:ext cx="3749040" cy="4114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4892040" y="4544568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Total Marks: ____  /  30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0" y="1645920"/>
            <a:ext cx="228600" cy="1920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SECTION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NumPy Arrays &amp; Operations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Questions 1–5  ·  Broadcasting, Indexing &amp; Numerical Computing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57200" y="41148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5 Questions × 1 Mark = 5 Marks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ARRAY OPERATIONS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[1 Mark]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does the following NumPy operation return?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np.array([1, 2, 3]) * 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[3, 6, 9]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[1, 2, 3, 1, 2, 3, 1, 2, 3]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[3, 3, 3]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Error – cannot multiply array by scalar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Answer: </a:t>
            </a:r>
            <a:r>
              <a:rPr lang="en-US" sz="130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BROADCASTING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[1 Mark]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Which of the following NumPy array shapes are broadcast-compatible?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(3, 4) and (5, 4)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(3,) and (3, 3)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(4, 1) and (1, 4)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Both B and 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Answer: </a:t>
            </a:r>
            <a:r>
              <a:rPr lang="en-US" sz="130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D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INDEXING &amp; SLICING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[1 Mark]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Given arr = np.array([[1,2,3],[4,5,6],[7,8,9]]), what does arr[1:, ::2] return?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[[4, 6], [7, 9]]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[[4, 5, 6], [7, 8, 9]]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[[4, 6], [7, 9]]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[[5, 6], [8, 9]]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Answer:  A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NUMERICAL COMPUTATIONS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[1 Mark]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Which NumPy function computes the dot product of two 1-D arrays?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np.multiply()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np.dot()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np.cross()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np.sum()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Answer: </a:t>
            </a:r>
            <a:r>
              <a:rPr lang="en-US" sz="130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ARRAY OPERATIONS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[1 Mark]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the output of np.arange(2, 10, 3)?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[2, 5, 8, 11]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[2, 5, 8]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[3, 6, 9]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[2, 4, 6, 8]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Answer: </a:t>
            </a:r>
            <a:r>
              <a:rPr lang="en-US" sz="130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0" y="1645920"/>
            <a:ext cx="228600" cy="1920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SECTION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Pandas — Series &amp; DataFrames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Questions 6–12  ·  Data Loading, Filtering, Sorting &amp; Wrangling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7 Questions × 1 Mark = 7 Marks  +  3 Short Answer × 2 Marks = 6 Marks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SERIES &amp; DATAFRAMES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[1 Mark]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Which Pandas method is used to read a CSV file into a DataFrame?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pd.read_table()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pd.read_csv()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pd.load_csv()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pd.import_csv()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Answer: </a:t>
            </a:r>
            <a:r>
              <a:rPr lang="en-US" sz="130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DATA LOADING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[1 Mark]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Which parameter in pd.read_excel() specifies which sheet to load?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tab_name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sheet_index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sheet_name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worksheet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Answer: </a:t>
            </a:r>
            <a:r>
              <a:rPr lang="en-US" sz="130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FILTERING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[1 Mark]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Given df with a column 'Age', which expression filters rows where Age &gt; 25?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df[df.Age &gt; 25]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df.filter(Age &gt; 25)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df.where('Age &gt; 25')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3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df.query['Age &gt; 25']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Answer: </a:t>
            </a:r>
            <a:r>
              <a:rPr lang="en-US" sz="130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4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SORTING &amp; GROUPING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[1 Mark]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Which method sorts a DataFrame by the 'Score' column in descending order?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4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df.sort('Score', desc=True)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df.order_by('Score', ascending=False)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4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4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df.sort_values('Score', ascending=False)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4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df.arrange('Score', reverse=True)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4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Answer: </a:t>
            </a:r>
            <a:r>
              <a:rPr lang="en-US" sz="130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5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5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5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GROUPING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[1 Mark]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does df.groupby('Dept')['Salary'].mean() return?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5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5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A single mean salary value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5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5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Mean salary grouped by department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Mean salary of the 'Dept' column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5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5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Error – cannot group then mean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Answer: </a:t>
            </a:r>
            <a:r>
              <a:rPr lang="en-US" sz="130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6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6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6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6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DATA WRANGLING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[1 Mark]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Which method combines two DataFrames horizontally (column-wise)?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6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6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6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pd.concat([df1, df2], axis=0)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6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6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pd.concat([df1, df2], axis=1)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6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6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df1.append(df2)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6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6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pd.merge(df1, df2, how='outer')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6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6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Answer: </a:t>
            </a:r>
            <a:r>
              <a:rPr lang="en-US" sz="130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7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7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7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7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7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DATA WRANGLING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[1 Mark]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does df.dropna() do to a DataFrame?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7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7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7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Drops all columns with NaN values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7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7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Fills NaN values with 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Drops all rows containing NaN values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7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7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Replaces NaN with the column mean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7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Answer: </a:t>
            </a:r>
            <a:r>
              <a:rPr lang="en-US" sz="130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8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8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8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8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PANDAS – GROUPBY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[2 Marks]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365760" y="91440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SHORT ANSWER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Explain the split-apply-combine strategy used by groupby() in Pandas. Provide a real-world example showing how groupby() with an aggregation function is used.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0" name="Google Shape;440;p18"/>
          <p:cNvCxnSpPr/>
          <p:nvPr/>
        </p:nvCxnSpPr>
        <p:spPr>
          <a:xfrm>
            <a:off x="365760" y="3429000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1" name="Google Shape;441;p18"/>
          <p:cNvCxnSpPr/>
          <p:nvPr/>
        </p:nvCxnSpPr>
        <p:spPr>
          <a:xfrm>
            <a:off x="365760" y="3977640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2" name="Google Shape;442;p18"/>
          <p:cNvCxnSpPr/>
          <p:nvPr/>
        </p:nvCxnSpPr>
        <p:spPr>
          <a:xfrm>
            <a:off x="365760" y="4526280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3" name="Google Shape;443;p18"/>
          <p:cNvSpPr/>
          <p:nvPr/>
        </p:nvSpPr>
        <p:spPr>
          <a:xfrm>
            <a:off x="365775" y="2176275"/>
            <a:ext cx="7991700" cy="19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b="0" i="0" lang="en-US" sz="17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Answer:   Split, Apply, Combine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9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9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9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9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9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9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NUMPY – BROADCASTING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9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[2 Marks]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9"/>
          <p:cNvSpPr/>
          <p:nvPr/>
        </p:nvSpPr>
        <p:spPr>
          <a:xfrm>
            <a:off x="365760" y="91440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SHORT ANSWER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9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broadcasting in NumPy? State the broadcasting rules and give an example showing how arrays of shapes (3, 1) and (1, 4) would interact.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8" name="Google Shape;458;p19"/>
          <p:cNvCxnSpPr/>
          <p:nvPr/>
        </p:nvCxnSpPr>
        <p:spPr>
          <a:xfrm>
            <a:off x="365760" y="3429000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9" name="Google Shape;459;p19"/>
          <p:cNvCxnSpPr/>
          <p:nvPr/>
        </p:nvCxnSpPr>
        <p:spPr>
          <a:xfrm>
            <a:off x="365760" y="3977640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" name="Google Shape;460;p19"/>
          <p:cNvCxnSpPr/>
          <p:nvPr/>
        </p:nvCxnSpPr>
        <p:spPr>
          <a:xfrm>
            <a:off x="365760" y="4526280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1" name="Google Shape;461;p19"/>
          <p:cNvSpPr/>
          <p:nvPr/>
        </p:nvSpPr>
        <p:spPr>
          <a:xfrm>
            <a:off x="440850" y="2189180"/>
            <a:ext cx="8262300" cy="284340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F0F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NumPy compares array shapes </a:t>
            </a:r>
            <a:r>
              <a:rPr b="1" lang="en-US" sz="1100">
                <a:solidFill>
                  <a:schemeClr val="dk1"/>
                </a:solidFill>
              </a:rPr>
              <a:t>from right to left</a:t>
            </a:r>
            <a:r>
              <a:rPr lang="en-US" sz="1100">
                <a:solidFill>
                  <a:schemeClr val="dk1"/>
                </a:solidFill>
              </a:rPr>
              <a:t>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Dimensions are compatible if: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They are </a:t>
            </a:r>
            <a:r>
              <a:rPr b="1" lang="en-US" sz="1100">
                <a:solidFill>
                  <a:schemeClr val="dk1"/>
                </a:solidFill>
              </a:rPr>
              <a:t>equal</a:t>
            </a:r>
            <a:r>
              <a:rPr lang="en-US" sz="1100">
                <a:solidFill>
                  <a:schemeClr val="dk1"/>
                </a:solidFill>
              </a:rPr>
              <a:t>, OR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One of them is </a:t>
            </a:r>
            <a:r>
              <a:rPr b="1" lang="en-US" sz="1100">
                <a:solidFill>
                  <a:schemeClr val="dk1"/>
                </a:solidFill>
              </a:rPr>
              <a:t>1</a:t>
            </a:r>
            <a:r>
              <a:rPr lang="en-US" sz="1100">
                <a:solidFill>
                  <a:schemeClr val="dk1"/>
                </a:solidFill>
              </a:rPr>
              <a:t>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If a dimension is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1100">
                <a:solidFill>
                  <a:schemeClr val="dk1"/>
                </a:solidFill>
              </a:rPr>
              <a:t>, NumPy </a:t>
            </a:r>
            <a:r>
              <a:rPr b="1" lang="en-US" sz="1100">
                <a:solidFill>
                  <a:schemeClr val="dk1"/>
                </a:solidFill>
              </a:rPr>
              <a:t>stretches (broadcasts)</a:t>
            </a:r>
            <a:r>
              <a:rPr lang="en-US" sz="1100">
                <a:solidFill>
                  <a:schemeClr val="dk1"/>
                </a:solidFill>
              </a:rPr>
              <a:t> it to match the other dimension.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t/>
            </a:r>
            <a:endParaRPr sz="2300">
              <a:solidFill>
                <a:srgbClr val="A0AE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0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0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0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0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0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DATA WRANGLING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0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[2 Marks]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0"/>
          <p:cNvSpPr/>
          <p:nvPr/>
        </p:nvSpPr>
        <p:spPr>
          <a:xfrm>
            <a:off x="365760" y="91440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SHORT ANSWER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0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Describe any TWO common data-wrangling tasks in Pandas. For each task, name the method used and write a one-line code example.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0"/>
          <p:cNvSpPr/>
          <p:nvPr/>
        </p:nvSpPr>
        <p:spPr>
          <a:xfrm>
            <a:off x="365699" y="2176299"/>
            <a:ext cx="8412600" cy="2502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1. Handling Missing Values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Task:</a:t>
            </a:r>
            <a:r>
              <a:rPr lang="en-US" sz="1100">
                <a:solidFill>
                  <a:schemeClr val="dk1"/>
                </a:solidFill>
              </a:rPr>
              <a:t> Remove or fill missing data in a dataset.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</a:t>
            </a:r>
            <a:r>
              <a:rPr b="1" lang="en-US" sz="1100">
                <a:solidFill>
                  <a:schemeClr val="dk1"/>
                </a:solidFill>
              </a:rPr>
              <a:t>Method: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dropna()</a:t>
            </a:r>
            <a:r>
              <a:rPr lang="en-US" sz="1100">
                <a:solidFill>
                  <a:schemeClr val="dk1"/>
                </a:solidFill>
              </a:rPr>
              <a:t> /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fillna()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2. Filtering Data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Task:</a:t>
            </a:r>
            <a:r>
              <a:rPr lang="en-US" sz="1100">
                <a:solidFill>
                  <a:schemeClr val="dk1"/>
                </a:solidFill>
              </a:rPr>
              <a:t> Select rows based on a condition.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</a:t>
            </a:r>
            <a:r>
              <a:rPr b="1" lang="en-US" sz="1100">
                <a:solidFill>
                  <a:schemeClr val="dk1"/>
                </a:solidFill>
              </a:rPr>
              <a:t>Method:</a:t>
            </a:r>
            <a:r>
              <a:rPr lang="en-US" sz="1100">
                <a:solidFill>
                  <a:schemeClr val="dk1"/>
                </a:solidFill>
              </a:rPr>
              <a:t> Boolean Indexing</a:t>
            </a:r>
            <a:endParaRPr b="1" sz="19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1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 OF QUIZ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1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Please review all answers before submitting.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6" name="Google Shape;486;p21"/>
          <p:cNvGraphicFramePr/>
          <p:nvPr/>
        </p:nvGraphicFramePr>
        <p:xfrm>
          <a:off x="1371600" y="2468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{7393EF34-A33C-41F8-8A84-EE8B6C6199A0}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Section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Topic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Questions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Marks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34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0F0F0"/>
                          </a:solidFill>
                        </a:rPr>
                        <a:t>Section 1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0F0F0"/>
                          </a:solidFill>
                        </a:rPr>
                        <a:t>NumPy Arrays &amp; Operations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0F0F0"/>
                          </a:solidFill>
                        </a:rPr>
                        <a:t>Q1–Q5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0F0F0"/>
                          </a:solidFill>
                        </a:rPr>
                        <a:t>5 Marks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0F0F0"/>
                          </a:solidFill>
                        </a:rPr>
                        <a:t>Section 2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0F0F0"/>
                          </a:solidFill>
                        </a:rPr>
                        <a:t>Pandas MCQ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0F0F0"/>
                          </a:solidFill>
                        </a:rPr>
                        <a:t>Q6–Q12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0F0F0"/>
                          </a:solidFill>
                        </a:rPr>
                        <a:t>7 Marks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0F0F0"/>
                          </a:solidFill>
                        </a:rPr>
                        <a:t>Section 2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0F0F0"/>
                          </a:solidFill>
                        </a:rPr>
                        <a:t>Short Answer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0F0F0"/>
                          </a:solidFill>
                        </a:rPr>
                        <a:t>Q13–Q15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0F0F0"/>
                          </a:solidFill>
                        </a:rPr>
                        <a:t>6 Marks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A62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5A623"/>
                          </a:solidFill>
                        </a:rPr>
                        <a:t>TOTAL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A62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5A623"/>
                          </a:solidFill>
                        </a:rPr>
                        <a:t>30 Marks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F34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